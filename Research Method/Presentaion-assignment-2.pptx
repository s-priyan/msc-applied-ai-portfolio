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64" r:id="rId4"/>
  </p:sldMasterIdLst>
  <p:notesMasterIdLst>
    <p:notesMasterId r:id="rId10"/>
  </p:notesMasterIdLst>
  <p:handoutMasterIdLst>
    <p:handoutMasterId r:id="rId11"/>
  </p:handoutMasterIdLst>
  <p:sldIdLst>
    <p:sldId id="295" r:id="rId5"/>
    <p:sldId id="296" r:id="rId6"/>
    <p:sldId id="297" r:id="rId7"/>
    <p:sldId id="298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BC89EF96-8CEA-46FF-86C4-4CE0E760980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04" autoAdjust="0"/>
    <p:restoredTop sz="91293" autoAdjust="0"/>
  </p:normalViewPr>
  <p:slideViewPr>
    <p:cSldViewPr snapToGrid="0">
      <p:cViewPr varScale="1">
        <p:scale>
          <a:sx n="75" d="100"/>
          <a:sy n="75" d="100"/>
        </p:scale>
        <p:origin x="965" y="58"/>
      </p:cViewPr>
      <p:guideLst/>
    </p:cSldViewPr>
  </p:slideViewPr>
  <p:outlineViewPr>
    <p:cViewPr>
      <p:scale>
        <a:sx n="33" d="100"/>
        <a:sy n="33" d="100"/>
      </p:scale>
      <p:origin x="0" y="-489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A81869F-F6FC-6A0D-CE07-6B540E550E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A6B6C1-6185-79F5-23C8-927538634E4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41E86C-C6B4-424D-8295-67D3386172F0}" type="datetimeFigureOut">
              <a:rPr lang="en-US" smtClean="0"/>
              <a:t>2/3/2025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75153B-EAEA-CF1E-30D7-16C2E64586B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72AFB7-47EE-893B-5887-BDC37DCA5F0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F94707-CAF6-40B0-A7EA-C5F3C63CBD6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341121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88D07-B188-44E4-ABBB-6994C1A52936}" type="datetimeFigureOut">
              <a:rPr lang="en-US" smtClean="0"/>
              <a:t>2/3/2025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42455A-0D23-4EAB-9AF9-2CC2B3066B0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368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1777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9610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177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E957A1-2CE0-ED75-5159-EE8D46080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A6155F-1645-B2CF-4830-398C728C9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BAE912-F6B3-A52F-7220-49354E9AE5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3F98F7-A0DA-0174-9C23-271CC5F9C5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02704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42455A-0D23-4EAB-9AF9-2CC2B3066B0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3951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26367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91878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323613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08489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6516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718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8464DCA-A9BF-A892-3059-84E13570D0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0702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6463086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067757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19895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545913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8CE0AB24-7427-4E0C-9E7C-B642B3170AF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524" y="0"/>
            <a:ext cx="12188952" cy="6858000"/>
          </a:xfrm>
          <a:solidFill>
            <a:schemeClr val="accent6"/>
          </a:solidFill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30A2A8-DADD-44CC-B8A3-9BFFD5E76B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2705101"/>
            <a:ext cx="7537703" cy="2926080"/>
          </a:xfrm>
          <a:solidFill>
            <a:schemeClr val="bg1">
              <a:alpha val="93000"/>
            </a:schemeClr>
          </a:solidFill>
        </p:spPr>
        <p:txBody>
          <a:bodyPr lIns="822960" tIns="91440" bIns="548640" anchor="b" anchorCtr="0">
            <a:noAutofit/>
          </a:bodyPr>
          <a:lstStyle>
            <a:lvl1pPr>
              <a:defRPr/>
            </a:lvl1pPr>
          </a:lstStyle>
          <a:p>
            <a:r>
              <a:rPr lang="en-US" sz="5400" dirty="0">
                <a:solidFill>
                  <a:schemeClr val="tx1"/>
                </a:solidFill>
              </a:rPr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834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08201"/>
            <a:ext cx="10058399" cy="3760891"/>
          </a:xfrm>
        </p:spPr>
        <p:txBody>
          <a:bodyPr lIns="91440">
            <a:normAutofit/>
          </a:bodyPr>
          <a:lstStyle>
            <a:lvl1pPr marL="347472" indent="-347472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3000"/>
            </a:lvl1pPr>
            <a:lvl2pPr>
              <a:spcBef>
                <a:spcPts val="1200"/>
              </a:spcBef>
              <a:spcAft>
                <a:spcPts val="200"/>
              </a:spcAft>
              <a:defRPr sz="3000"/>
            </a:lvl2pPr>
            <a:lvl3pPr>
              <a:spcBef>
                <a:spcPts val="1200"/>
              </a:spcBef>
              <a:spcAft>
                <a:spcPts val="200"/>
              </a:spcAft>
              <a:defRPr sz="3000"/>
            </a:lvl3pPr>
            <a:lvl4pPr>
              <a:spcBef>
                <a:spcPts val="1200"/>
              </a:spcBef>
              <a:spcAft>
                <a:spcPts val="200"/>
              </a:spcAft>
              <a:defRPr sz="3000"/>
            </a:lvl4pPr>
            <a:lvl5pPr>
              <a:spcBef>
                <a:spcPts val="1200"/>
              </a:spcBef>
              <a:spcAft>
                <a:spcPts val="200"/>
              </a:spcAft>
              <a:defRPr sz="3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481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>
            <a:extLst>
              <a:ext uri="{FF2B5EF4-FFF2-40B4-BE49-F238E27FC236}">
                <a16:creationId xmlns:a16="http://schemas.microsoft.com/office/drawing/2014/main" id="{8832B6D9-0469-48A5-A85E-8C5D8EF86B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Click to add title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A8F00A-3EB2-4D4D-B4A7-990BB91D74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11">
            <a:extLst>
              <a:ext uri="{FF2B5EF4-FFF2-40B4-BE49-F238E27FC236}">
                <a16:creationId xmlns:a16="http://schemas.microsoft.com/office/drawing/2014/main" id="{4142A7E4-A56F-4FC2-A81D-36A83134A21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97280" y="2182849"/>
            <a:ext cx="10058399" cy="3956692"/>
          </a:xfrm>
        </p:spPr>
        <p:txBody>
          <a:bodyPr lIns="91440">
            <a:normAutofit/>
          </a:bodyPr>
          <a:lstStyle>
            <a:lvl1pPr marL="0" indent="0">
              <a:spcBef>
                <a:spcPts val="1200"/>
              </a:spcBef>
              <a:spcAft>
                <a:spcPts val="200"/>
              </a:spcAft>
              <a:buFont typeface="Arial" panose="020B0604020202020204" pitchFamily="34" charset="0"/>
              <a:buNone/>
              <a:defRPr sz="2400"/>
            </a:lvl1pPr>
            <a:lvl2pPr marL="384048" indent="-182880"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/>
            </a:lvl2pPr>
            <a:lvl3pPr>
              <a:spcBef>
                <a:spcPts val="1200"/>
              </a:spcBef>
              <a:spcAft>
                <a:spcPts val="200"/>
              </a:spcAft>
              <a:defRPr sz="2400"/>
            </a:lvl3pPr>
            <a:lvl4pPr>
              <a:spcBef>
                <a:spcPts val="1200"/>
              </a:spcBef>
              <a:spcAft>
                <a:spcPts val="200"/>
              </a:spcAft>
              <a:defRPr sz="2400"/>
            </a:lvl4pPr>
            <a:lvl5pPr>
              <a:spcBef>
                <a:spcPts val="1200"/>
              </a:spcBef>
              <a:spcAft>
                <a:spcPts val="200"/>
              </a:spcAft>
              <a:defRPr sz="24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0539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B4E322D5-1CC3-400A-A187-55543F0E8B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Title 13">
            <a:extLst>
              <a:ext uri="{FF2B5EF4-FFF2-40B4-BE49-F238E27FC236}">
                <a16:creationId xmlns:a16="http://schemas.microsoft.com/office/drawing/2014/main" id="{EAD2187F-4097-47C0-8330-56262D32831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859485" y="640080"/>
            <a:ext cx="3690257" cy="2450676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523EF1-B104-45FE-925A-5C7906FA18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 userDrawn="1"/>
        </p:nvCxnSpPr>
        <p:spPr>
          <a:xfrm>
            <a:off x="7942633" y="3255512"/>
            <a:ext cx="34747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FA958037-C140-4697-8EAF-21C950A0ECC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0936" y="640080"/>
            <a:ext cx="6912864" cy="5312664"/>
          </a:xfrm>
          <a:solidFill>
            <a:schemeClr val="accent6"/>
          </a:solidFill>
        </p:spPr>
        <p:txBody>
          <a:bodyPr>
            <a:normAutofit/>
          </a:bodyPr>
          <a:lstStyle>
            <a:lvl1pPr algn="ctr"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44613BB0-E0E0-4B1C-9926-EBE53B5420E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859485" y="3429000"/>
            <a:ext cx="3690257" cy="2440094"/>
          </a:xfrm>
        </p:spPr>
        <p:txBody>
          <a:bodyPr lIns="91440">
            <a:normAutofit/>
          </a:bodyPr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866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75607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5" r:id="rId1"/>
    <p:sldLayoutId id="2147483766" r:id="rId2"/>
    <p:sldLayoutId id="2147483767" r:id="rId3"/>
    <p:sldLayoutId id="2147483768" r:id="rId4"/>
    <p:sldLayoutId id="2147483769" r:id="rId5"/>
    <p:sldLayoutId id="2147483770" r:id="rId6"/>
    <p:sldLayoutId id="2147483771" r:id="rId7"/>
    <p:sldLayoutId id="2147483772" r:id="rId8"/>
    <p:sldLayoutId id="2147483773" r:id="rId9"/>
    <p:sldLayoutId id="2147483774" r:id="rId10"/>
    <p:sldLayoutId id="2147483775" r:id="rId11"/>
    <p:sldLayoutId id="2147483776" r:id="rId12"/>
    <p:sldLayoutId id="2147483777" r:id="rId13"/>
    <p:sldLayoutId id="2147483780" r:id="rId14"/>
    <p:sldLayoutId id="2147483788" r:id="rId15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0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7" descr="A group of people sitting at a table">
            <a:extLst>
              <a:ext uri="{FF2B5EF4-FFF2-40B4-BE49-F238E27FC236}">
                <a16:creationId xmlns:a16="http://schemas.microsoft.com/office/drawing/2014/main" id="{6BEAD192-141F-FDDE-021B-8674B81EECDC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r="13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8C834208-78D3-55FF-0568-AC7434753C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2092960"/>
            <a:ext cx="7457440" cy="3538221"/>
          </a:xfrm>
        </p:spPr>
        <p:txBody>
          <a:bodyPr/>
          <a:lstStyle/>
          <a:p>
            <a:r>
              <a:rPr lang="en-US" b="1" dirty="0"/>
              <a:t>The Influence of Room Temperature on Employee Productivity: An Experimental Study</a:t>
            </a:r>
          </a:p>
        </p:txBody>
      </p:sp>
    </p:spTree>
    <p:extLst>
      <p:ext uri="{BB962C8B-B14F-4D97-AF65-F5344CB8AC3E}">
        <p14:creationId xmlns:p14="http://schemas.microsoft.com/office/powerpoint/2010/main" val="2076879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44E67-57A4-9825-9E94-C2B258A68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Experimental Study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C3D74-CBD0-AEEC-7CF1-ED875B10D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Title:</a:t>
            </a:r>
            <a:r>
              <a:rPr lang="en-US" dirty="0"/>
              <a:t> The Impact of Work Environment Temperature on Employee Productivity</a:t>
            </a:r>
          </a:p>
          <a:p>
            <a:r>
              <a:rPr lang="en-US" b="1" dirty="0"/>
              <a:t>Objective:</a:t>
            </a:r>
            <a:r>
              <a:rPr lang="en-US" dirty="0"/>
              <a:t> To investigate the causal relationship between room temperature and employee productivity in a controlled office setting.</a:t>
            </a:r>
          </a:p>
          <a:p>
            <a:r>
              <a:rPr lang="en-US" b="1" dirty="0"/>
              <a:t>Causal Relationship:</a:t>
            </a:r>
            <a:endParaRPr lang="en-US" dirty="0"/>
          </a:p>
          <a:p>
            <a:pPr marL="566928" lvl="3" indent="0">
              <a:buNone/>
            </a:pPr>
            <a:r>
              <a:rPr lang="en-US" b="1" dirty="0"/>
              <a:t>Hypothesis:</a:t>
            </a:r>
            <a:r>
              <a:rPr lang="en-US" dirty="0"/>
              <a:t> Changes in room temperature have a direct effect on employee productivity.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1632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06819-AA5B-295D-8572-4858952DA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Variables and Experimental Design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A83709-886B-3B06-E9F0-11D361B52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19448"/>
            <a:ext cx="5245646" cy="3245678"/>
          </a:xfrm>
        </p:spPr>
        <p:txBody>
          <a:bodyPr>
            <a:noAutofit/>
          </a:bodyPr>
          <a:lstStyle/>
          <a:p>
            <a:r>
              <a:rPr lang="en-US" sz="2000" b="1" dirty="0"/>
              <a:t>Independent Variable: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Room Temperature (set at 18°C, 22°C, and 26°C)</a:t>
            </a:r>
          </a:p>
          <a:p>
            <a:r>
              <a:rPr lang="en-US" sz="2000" b="1" dirty="0"/>
              <a:t>Dependent Variable: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Employee Productivity (measured by the number of tasks completed and accuracy within a fixed time frame)</a:t>
            </a:r>
          </a:p>
          <a:p>
            <a:r>
              <a:rPr lang="en-US" sz="2000" b="1" dirty="0"/>
              <a:t>Experimental Design:</a:t>
            </a:r>
            <a:endParaRPr lang="en-US" sz="2000" dirty="0"/>
          </a:p>
          <a:p>
            <a:pPr lvl="1"/>
            <a:r>
              <a:rPr lang="en-US" sz="2000" b="1" dirty="0"/>
              <a:t>Repeated Measures Experimental Design</a:t>
            </a:r>
            <a:r>
              <a:rPr lang="en-US" sz="2000" dirty="0"/>
              <a:t>: Each participant experiences all temperature conditions, allowing for within-subject comparisons.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0A966A-8B32-9975-33C5-57E45A270CB1}"/>
              </a:ext>
            </a:extLst>
          </p:cNvPr>
          <p:cNvSpPr txBox="1">
            <a:spLocks/>
          </p:cNvSpPr>
          <p:nvPr/>
        </p:nvSpPr>
        <p:spPr>
          <a:xfrm>
            <a:off x="6677179" y="1919448"/>
            <a:ext cx="5149062" cy="4019515"/>
          </a:xfrm>
          <a:prstGeom prst="rect">
            <a:avLst/>
          </a:prstGeom>
        </p:spPr>
        <p:txBody>
          <a:bodyPr vert="horz" lIns="91440" tIns="45720" rIns="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Arial" panose="020B0604020202020204" pitchFamily="34" charset="0"/>
              <a:buNone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>
                <a:schemeClr val="accent2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Tx/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Tx/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1200"/>
              </a:spcBef>
              <a:spcAft>
                <a:spcPts val="200"/>
              </a:spcAft>
              <a:buClrTx/>
              <a:buFont typeface="Calibri" pitchFamily="34" charset="0"/>
              <a:buChar char="◦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Potential Sources of Variance: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Individual differences in baseline productivity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Time of day when the experiment is conducted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Participant adaptation to temperature over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 External distractions or personal factors affecting performance</a:t>
            </a:r>
          </a:p>
        </p:txBody>
      </p:sp>
    </p:spTree>
    <p:extLst>
      <p:ext uri="{BB962C8B-B14F-4D97-AF65-F5344CB8AC3E}">
        <p14:creationId xmlns:p14="http://schemas.microsoft.com/office/powerpoint/2010/main" val="16667318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3298-55A0-AA9A-EC4D-99732E7CD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40015-33B1-522D-E9E8-DD8FBC15F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Methodology and Controls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CF3E0-E92A-8FB3-8BEF-C20D0D6D3D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/>
              <a:t>Participants:</a:t>
            </a:r>
            <a:endParaRPr lang="en-US" dirty="0"/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/>
              <a:t>30 office workers from diverse backgrounds</a:t>
            </a:r>
          </a:p>
          <a:p>
            <a:r>
              <a:rPr lang="en-US" b="1" dirty="0"/>
              <a:t>Procedure:</a:t>
            </a:r>
            <a:endParaRPr lang="en-US" dirty="0"/>
          </a:p>
          <a:p>
            <a:pPr lvl="2">
              <a:buFont typeface="+mj-lt"/>
              <a:buAutoNum type="arabicPeriod"/>
            </a:pPr>
            <a:r>
              <a:rPr lang="en-US" dirty="0"/>
              <a:t>Participants perform identical cognitive tasks in rooms set at different temperatures.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Each session lasts for 30 minutes, with breaks between conditions to prevent fatigue.</a:t>
            </a:r>
          </a:p>
          <a:p>
            <a:pPr lvl="2">
              <a:buFont typeface="+mj-lt"/>
              <a:buAutoNum type="arabicPeriod"/>
            </a:pPr>
            <a:r>
              <a:rPr lang="en-US" dirty="0"/>
              <a:t>Randomized order of temperature conditions to minimize training effects.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84008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EC8C2A-D6A8-4036-9B23-884C34482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6" name="Picture Placeholder 5" descr="People in the background shaking hands">
            <a:extLst>
              <a:ext uri="{FF2B5EF4-FFF2-40B4-BE49-F238E27FC236}">
                <a16:creationId xmlns:a16="http://schemas.microsoft.com/office/drawing/2014/main" id="{7152A34F-5793-48E6-BC6E-4B7215AA9A1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" r="4"/>
          <a:stretch/>
        </p:blipFill>
        <p:spPr/>
      </p:pic>
    </p:spTree>
    <p:extLst>
      <p:ext uri="{BB962C8B-B14F-4D97-AF65-F5344CB8AC3E}">
        <p14:creationId xmlns:p14="http://schemas.microsoft.com/office/powerpoint/2010/main" val="85074301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A887178-918B-41B5-90B5-AF84E76A422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4E6FD3E-3033-4D44-9759-980DCC3E7F4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6FDF0338-C524-4CF6-9268-3569B65741F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{28447A05-57C7-4045-BC91-81FBD35668F0}tf22581678_win32</Template>
  <TotalTime>18</TotalTime>
  <Words>222</Words>
  <Application>Microsoft Office PowerPoint</Application>
  <PresentationFormat>Widescreen</PresentationFormat>
  <Paragraphs>31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Arial</vt:lpstr>
      <vt:lpstr>Calibri</vt:lpstr>
      <vt:lpstr>Calibri Light</vt:lpstr>
      <vt:lpstr>RetrospectVTI</vt:lpstr>
      <vt:lpstr>The Influence of Room Temperature on Employee Productivity: An Experimental Study</vt:lpstr>
      <vt:lpstr>Experimental Study Overview</vt:lpstr>
      <vt:lpstr>Variables and Experimental Design</vt:lpstr>
      <vt:lpstr>Methodology and Controls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Shobanapriyan Chandrasegaran (Student)</dc:creator>
  <cp:lastModifiedBy>Shobanapriyan Chandrasegaran (Student)</cp:lastModifiedBy>
  <cp:revision>1</cp:revision>
  <dcterms:created xsi:type="dcterms:W3CDTF">2025-02-03T18:15:46Z</dcterms:created>
  <dcterms:modified xsi:type="dcterms:W3CDTF">2025-02-03T18:34:35Z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