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1"/>
  </p:notesMasterIdLst>
  <p:handoutMasterIdLst>
    <p:handoutMasterId r:id="rId12"/>
  </p:handoutMasterIdLst>
  <p:sldIdLst>
    <p:sldId id="278" r:id="rId5"/>
    <p:sldId id="284" r:id="rId6"/>
    <p:sldId id="286" r:id="rId7"/>
    <p:sldId id="293" r:id="rId8"/>
    <p:sldId id="290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2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59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21" r:id="rId13"/>
    <p:sldLayoutId id="2147483723" r:id="rId14"/>
    <p:sldLayoutId id="2147483726" r:id="rId15"/>
    <p:sldLayoutId id="2147483728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7749" y="456460"/>
            <a:ext cx="4721696" cy="6091824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Coding Scheme for Child  Behavior Analysis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This coding scheme is designed to analyze the behavioral interactions of a child in the given video scenario. </a:t>
            </a:r>
          </a:p>
          <a:p>
            <a:r>
              <a:rPr lang="en-US" sz="2400" dirty="0"/>
              <a:t>The scheme categorizes and defines specific behaviors to extract meaningful insights related to attention shifts, social engagement, and reaction to external stimuli.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Categories and Definitions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662070-C004-E4D3-89F9-C6D244966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460191"/>
              </p:ext>
            </p:extLst>
          </p:nvPr>
        </p:nvGraphicFramePr>
        <p:xfrm>
          <a:off x="550863" y="1601140"/>
          <a:ext cx="9782840" cy="519107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328457">
                  <a:extLst>
                    <a:ext uri="{9D8B030D-6E8A-4147-A177-3AD203B41FA5}">
                      <a16:colId xmlns:a16="http://schemas.microsoft.com/office/drawing/2014/main" val="4229766880"/>
                    </a:ext>
                  </a:extLst>
                </a:gridCol>
                <a:gridCol w="5454383">
                  <a:extLst>
                    <a:ext uri="{9D8B030D-6E8A-4147-A177-3AD203B41FA5}">
                      <a16:colId xmlns:a16="http://schemas.microsoft.com/office/drawing/2014/main" val="29724283"/>
                    </a:ext>
                  </a:extLst>
                </a:gridCol>
              </a:tblGrid>
              <a:tr h="838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Child Behaviors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Definition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137702"/>
                  </a:ext>
                </a:extLst>
              </a:tr>
              <a:tr h="628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Child Engages with Toys (C-Toy)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child actively interacts with the toys in the room, such as touching, holding, or playing.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79202"/>
                  </a:ext>
                </a:extLst>
              </a:tr>
              <a:tr h="838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Child Seeks Parent's Attention (C-</a:t>
                      </a:r>
                      <a:r>
                        <a:rPr lang="en-US" b="1" dirty="0" err="1"/>
                        <a:t>PSeek</a:t>
                      </a:r>
                      <a:r>
                        <a:rPr lang="en-US" b="1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child looks at, reaches for, vocalizes, or physically approaches the parent to gain their attention.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521265"/>
                  </a:ext>
                </a:extLst>
              </a:tr>
              <a:tr h="8981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Child Notices Parent Avoidance (C-</a:t>
                      </a:r>
                      <a:r>
                        <a:rPr lang="en-US" b="1" dirty="0" err="1"/>
                        <a:t>PAvoid</a:t>
                      </a:r>
                      <a:r>
                        <a:rPr lang="en-US" b="1" dirty="0"/>
                        <a:t>)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child observes the parent's lack of response or interaction and displays a reaction such as hesitation, confusion, or repeated attempts to gain attention.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64935"/>
                  </a:ext>
                </a:extLst>
              </a:tr>
              <a:tr h="838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Child Notices Visitor (C-</a:t>
                      </a:r>
                      <a:r>
                        <a:rPr lang="en-US" b="1" dirty="0" err="1"/>
                        <a:t>VNot</a:t>
                      </a:r>
                      <a:r>
                        <a:rPr lang="en-US" b="1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child shifts attention to the visitor by looking at them or displaying curiosity.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96806"/>
                  </a:ext>
                </a:extLst>
              </a:tr>
              <a:tr h="11199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Child Interacts with Visitor (C-</a:t>
                      </a:r>
                      <a:r>
                        <a:rPr lang="en-US" b="1" dirty="0" err="1"/>
                        <a:t>VInt</a:t>
                      </a:r>
                      <a:r>
                        <a:rPr lang="en-US" b="1" dirty="0"/>
                        <a:t>)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child initiates or responds to interaction with the visitor, such as making eye contact, smiling, talking, or reaching out.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74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3212-1C34-2CAF-464A-614B304D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43" y="626293"/>
            <a:ext cx="7960421" cy="1450217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79E8D-F051-E0A4-12CD-16E18322F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3" y="1749078"/>
            <a:ext cx="7929940" cy="3979625"/>
          </a:xfrm>
        </p:spPr>
        <p:txBody>
          <a:bodyPr/>
          <a:lstStyle/>
          <a:p>
            <a:r>
              <a:rPr lang="en-US" sz="2400" dirty="0"/>
              <a:t>This coding scheme helps in analyzing:</a:t>
            </a:r>
          </a:p>
          <a:p>
            <a:pPr lvl="1"/>
            <a:r>
              <a:rPr lang="en-US" sz="2400" dirty="0"/>
              <a:t>The child’s attention shifts from toys to parent to visitor.</a:t>
            </a:r>
          </a:p>
          <a:p>
            <a:pPr lvl="1"/>
            <a:r>
              <a:rPr lang="en-US" sz="2400" dirty="0"/>
              <a:t>The child’s reaction to parental avoidance and attempts to re-engage.</a:t>
            </a:r>
          </a:p>
          <a:p>
            <a:pPr lvl="1"/>
            <a:r>
              <a:rPr lang="en-US" sz="2400" dirty="0"/>
              <a:t>The impact of the visitor’s presence on the child’s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49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0">
            <a:normAutofit/>
          </a:bodyPr>
          <a:lstStyle/>
          <a:p>
            <a:r>
              <a:rPr lang="en-US" dirty="0"/>
              <a:t>Behavioral Insights Extracted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965095"/>
            <a:ext cx="7816390" cy="3995650"/>
          </a:xfrm>
          <a:noFill/>
        </p:spPr>
        <p:txBody>
          <a:bodyPr vert="horz" lIns="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 Attachment and Social Referencing:</a:t>
            </a:r>
            <a:r>
              <a:rPr lang="en-US" sz="2400" dirty="0"/>
              <a:t> The child’s response to parental avoidance may indicate attachment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 Attention Patterns:</a:t>
            </a:r>
            <a:r>
              <a:rPr lang="en-US" sz="2400" dirty="0"/>
              <a:t> The sequence of attention shifts can highlight cognitive and social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 Response to New Stimuli:</a:t>
            </a:r>
            <a:r>
              <a:rPr lang="en-US" sz="2400" dirty="0"/>
              <a:t> Interaction with the visitor can provide insights into the child’s adaptability and social interest.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{019BECC6-92DC-49EE-B733-D9F9927835F7}tf33713516_win32</Template>
  <TotalTime>28</TotalTime>
  <Words>303</Words>
  <Application>Microsoft Office PowerPoint</Application>
  <PresentationFormat>Widescreen</PresentationFormat>
  <Paragraphs>30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Walbaum Display</vt:lpstr>
      <vt:lpstr>3DFloatVTI</vt:lpstr>
      <vt:lpstr>Coding Scheme for Child  Behavior Analysis </vt:lpstr>
      <vt:lpstr>Introduction</vt:lpstr>
      <vt:lpstr>Coding Categories and Definitions</vt:lpstr>
      <vt:lpstr>Objective</vt:lpstr>
      <vt:lpstr>Behavioral Insights Extracted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Shobanapriyan Chandrasegaran (Student)</dc:creator>
  <cp:lastModifiedBy>Shobanapriyan Chandrasegaran (Student)</cp:lastModifiedBy>
  <cp:revision>4</cp:revision>
  <dcterms:created xsi:type="dcterms:W3CDTF">2025-02-09T19:35:27Z</dcterms:created>
  <dcterms:modified xsi:type="dcterms:W3CDTF">2025-02-09T20:04:23Z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